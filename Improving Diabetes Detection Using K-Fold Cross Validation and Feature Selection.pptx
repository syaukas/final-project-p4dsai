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oppins Bold" charset="1" panose="00000800000000000000"/>
      <p:regular r:id="rId19"/>
    </p:embeddedFont>
    <p:embeddedFont>
      <p:font typeface="Poppins Light" charset="1" panose="00000400000000000000"/>
      <p:regular r:id="rId20"/>
    </p:embeddedFont>
    <p:embeddedFont>
      <p:font typeface="Poppins" charset="1" panose="000005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84134" y="1702613"/>
            <a:ext cx="16230600" cy="6881774"/>
          </a:xfrm>
          <a:custGeom>
            <a:avLst/>
            <a:gdLst/>
            <a:ahLst/>
            <a:cxnLst/>
            <a:rect r="r" b="b" t="t" l="l"/>
            <a:pathLst>
              <a:path h="6881774" w="16230600">
                <a:moveTo>
                  <a:pt x="0" y="0"/>
                </a:moveTo>
                <a:lnTo>
                  <a:pt x="16230600" y="0"/>
                </a:lnTo>
                <a:lnTo>
                  <a:pt x="16230600" y="6881774"/>
                </a:lnTo>
                <a:lnTo>
                  <a:pt x="0" y="6881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345378" y="1905000"/>
            <a:ext cx="370872" cy="384751"/>
            <a:chOff x="0" y="0"/>
            <a:chExt cx="494495" cy="513001"/>
          </a:xfrm>
        </p:grpSpPr>
        <p:sp>
          <p:nvSpPr>
            <p:cNvPr name="AutoShape 4" id="4"/>
            <p:cNvSpPr/>
            <p:nvPr/>
          </p:nvSpPr>
          <p:spPr>
            <a:xfrm>
              <a:off x="13740" y="19050"/>
              <a:ext cx="480755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" id="5"/>
            <p:cNvSpPr/>
            <p:nvPr/>
          </p:nvSpPr>
          <p:spPr>
            <a:xfrm flipV="true">
              <a:off x="475445" y="19050"/>
              <a:ext cx="0" cy="480755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" id="6"/>
            <p:cNvSpPr/>
            <p:nvPr/>
          </p:nvSpPr>
          <p:spPr>
            <a:xfrm flipV="true">
              <a:off x="13740" y="19050"/>
              <a:ext cx="461705" cy="480755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541500" y="3818157"/>
            <a:ext cx="15059022" cy="1668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b="true" sz="4201" spc="-8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IMPROVING DIABETES DETECTION USING K-FOLD CROSS</a:t>
            </a:r>
          </a:p>
          <a:p>
            <a:pPr algn="l">
              <a:lnSpc>
                <a:spcPts val="4201"/>
              </a:lnSpc>
            </a:pPr>
            <a:r>
              <a:rPr lang="en-US" b="true" sz="4201" spc="-8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VALIDATION AND FEATURE SELECTION</a:t>
            </a:r>
          </a:p>
          <a:p>
            <a:pPr algn="l">
              <a:lnSpc>
                <a:spcPts val="4201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541500" y="8081581"/>
            <a:ext cx="7529511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8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MATA KULIAH PROGRAMMING FOR DATA SCIENCE AND ARTIFICIAL INTELLIGENCE</a:t>
            </a:r>
          </a:p>
          <a:p>
            <a:pPr algn="l">
              <a:lnSpc>
                <a:spcPts val="1800"/>
              </a:lnSpc>
            </a:pPr>
          </a:p>
        </p:txBody>
      </p:sp>
      <p:grpSp>
        <p:nvGrpSpPr>
          <p:cNvPr name="Group 9" id="9"/>
          <p:cNvGrpSpPr/>
          <p:nvPr/>
        </p:nvGrpSpPr>
        <p:grpSpPr>
          <a:xfrm rot="0">
            <a:off x="1490710" y="1510237"/>
            <a:ext cx="7187195" cy="587138"/>
            <a:chOff x="0" y="0"/>
            <a:chExt cx="9582926" cy="78285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41500" y="6334697"/>
            <a:ext cx="6127098" cy="918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sz="23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SYAUKAS RAHMATILLAH</a:t>
            </a:r>
          </a:p>
          <a:p>
            <a:pPr algn="l">
              <a:lnSpc>
                <a:spcPts val="2399"/>
              </a:lnSpc>
            </a:pPr>
            <a:r>
              <a:rPr lang="en-US" sz="23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MUHAMMAD ALI MURTAZA</a:t>
            </a:r>
          </a:p>
          <a:p>
            <a:pPr algn="l">
              <a:lnSpc>
                <a:spcPts val="2399"/>
              </a:lnSpc>
            </a:pPr>
            <a:r>
              <a:rPr lang="en-US" sz="23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PROGRAM STUDI KECERDASAN BUATAN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7881015" y="-1112315"/>
            <a:ext cx="16230600" cy="6881774"/>
          </a:xfrm>
          <a:custGeom>
            <a:avLst/>
            <a:gdLst/>
            <a:ahLst/>
            <a:cxnLst/>
            <a:rect r="r" b="b" t="t" l="l"/>
            <a:pathLst>
              <a:path h="6881774" w="16230600">
                <a:moveTo>
                  <a:pt x="16230600" y="0"/>
                </a:moveTo>
                <a:lnTo>
                  <a:pt x="0" y="0"/>
                </a:lnTo>
                <a:lnTo>
                  <a:pt x="0" y="6881774"/>
                </a:lnTo>
                <a:lnTo>
                  <a:pt x="16230600" y="6881774"/>
                </a:lnTo>
                <a:lnTo>
                  <a:pt x="1623060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2962534"/>
            <a:ext cx="12352428" cy="4361932"/>
            <a:chOff x="0" y="0"/>
            <a:chExt cx="16469905" cy="5815909"/>
          </a:xfrm>
        </p:grpSpPr>
        <p:sp>
          <p:nvSpPr>
            <p:cNvPr name="AutoShape 4" id="4"/>
            <p:cNvSpPr/>
            <p:nvPr/>
          </p:nvSpPr>
          <p:spPr>
            <a:xfrm>
              <a:off x="0" y="12819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0" y="47625"/>
              <a:ext cx="8538799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PENDAHULUAN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918914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Masalah Global: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Diabetes Mellitus (DM) adalah penyakit metabolik kronis yang menyebabkan sekitar 1,6 juta kematian tahunan menurut WHO.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Komplikasi: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Jika tidak terdeteksi dini, dapat menyebabkan kerusakan jantung, stroke, gagal ginjal, dan kebutaan.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Peran Teknologi: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Machine Learning (ML) menjadi alat kuat untuk mengidentifikasi pola tersembunyi dalam data klinis untuk prediksi dini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458246" y="-1743787"/>
            <a:ext cx="20814942" cy="8825535"/>
          </a:xfrm>
          <a:custGeom>
            <a:avLst/>
            <a:gdLst/>
            <a:ahLst/>
            <a:cxnLst/>
            <a:rect r="r" b="b" t="t" l="l"/>
            <a:pathLst>
              <a:path h="8825535" w="20814942">
                <a:moveTo>
                  <a:pt x="0" y="0"/>
                </a:moveTo>
                <a:lnTo>
                  <a:pt x="20814942" y="0"/>
                </a:lnTo>
                <a:lnTo>
                  <a:pt x="20814942" y="8825536"/>
                </a:lnTo>
                <a:lnTo>
                  <a:pt x="0" y="88255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2706152"/>
            <a:ext cx="12352428" cy="4874696"/>
            <a:chOff x="0" y="0"/>
            <a:chExt cx="16469905" cy="6499594"/>
          </a:xfrm>
        </p:grpSpPr>
        <p:sp>
          <p:nvSpPr>
            <p:cNvPr name="AutoShape 4" id="4"/>
            <p:cNvSpPr/>
            <p:nvPr/>
          </p:nvSpPr>
          <p:spPr>
            <a:xfrm>
              <a:off x="0" y="12819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0" y="47625"/>
              <a:ext cx="9944355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RECAL GAP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043799"/>
              <a:ext cx="16469905" cy="44557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Kelemahan Model Saat Ini: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Banyak model ML mencapai akurasi tinggi (~97%) tetapi memiliki Recall yang sangat rendah (0,39–0,49),.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Penyebab: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Ketidakseimbangan kelas dalam dataset (65% non-diabetes vs 35% diabetes) membuat model bias terhadap kelas mayoritas,.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Risiko Medis: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Kesalahan negatif (False Negative) sangat berbahaya karena menunda pengobatan yang menyelamatkan nyawa bagi pasien yang sebenarnya sakit.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016960"/>
            <a:ext cx="12352428" cy="4253080"/>
            <a:chOff x="0" y="0"/>
            <a:chExt cx="16469905" cy="5670773"/>
          </a:xfrm>
        </p:grpSpPr>
        <p:sp>
          <p:nvSpPr>
            <p:cNvPr name="AutoShape 4" id="4"/>
            <p:cNvSpPr/>
            <p:nvPr/>
          </p:nvSpPr>
          <p:spPr>
            <a:xfrm>
              <a:off x="62779" y="12819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9576318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TUJUAN PENELITIAN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773777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Mengatasi Ketidakseimbangan Kelas: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Menggunakan teknik SMOTE untuk menghasilkan sampel sintetis.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Optimalisasi Fitur: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Menerapkan Recursive Feature Elimination (RFE) untuk menghilangkan kebisingan data.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Stabilitas Model: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Menggunakan 5-Fold Cross Validation untuk memastikan performa yang konsisten dan mencegah overfitting,.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2997910"/>
            <a:ext cx="12352428" cy="4291180"/>
            <a:chOff x="0" y="0"/>
            <a:chExt cx="16469905" cy="5721573"/>
          </a:xfrm>
        </p:grpSpPr>
        <p:sp>
          <p:nvSpPr>
            <p:cNvPr name="AutoShape 4" id="4"/>
            <p:cNvSpPr/>
            <p:nvPr/>
          </p:nvSpPr>
          <p:spPr>
            <a:xfrm>
              <a:off x="62779" y="13327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1349192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 &amp; PREPROCESSING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24577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Pima Indian Diabetes Dataset (PIDD) dengan 768 catatan medis pasien wanita.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Imputasi Data: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Mengganti nilai nol yang tidak logis (pada Glukosa, BMI, dll.) dengan nilai median agar lebih tahan terhadap outlier.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Standarisasi: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Menerapkan Z-score normalization agar semua fitur memiliki skala yang sama untuk mempercepat konvergensi algoritma.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226510"/>
            <a:ext cx="12352428" cy="3833980"/>
            <a:chOff x="0" y="0"/>
            <a:chExt cx="16469905" cy="5111973"/>
          </a:xfrm>
        </p:grpSpPr>
        <p:sp>
          <p:nvSpPr>
            <p:cNvPr name="AutoShape 4" id="4"/>
            <p:cNvSpPr/>
            <p:nvPr/>
          </p:nvSpPr>
          <p:spPr>
            <a:xfrm>
              <a:off x="62779" y="12819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12848756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METODOLOGI - SMOTE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773777"/>
              <a:ext cx="16469905" cy="3338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Fungsi: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Menyeimbangkan jumlah sampel antara pasien sehat dan diabetes.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Cara Kerja: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Menciptakan sampel sintetis baru di sepanjang garis antara titik data minoritas dan tetangganya (k-nearest neighbors).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Hasil: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Dataset menjadi seimbang dengan masing-masing kelas memiliki 500 sampel,.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2859798"/>
            <a:ext cx="15475159" cy="4281655"/>
            <a:chOff x="0" y="0"/>
            <a:chExt cx="20633546" cy="5708873"/>
          </a:xfrm>
        </p:grpSpPr>
        <p:sp>
          <p:nvSpPr>
            <p:cNvPr name="AutoShape 4" id="4"/>
            <p:cNvSpPr/>
            <p:nvPr/>
          </p:nvSpPr>
          <p:spPr>
            <a:xfrm>
              <a:off x="62779" y="13200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METODOLOGI - SELEKSI FITUR (RFE)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11877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Fungsi: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Menghapus fitur yang redundan dan meningkatkan efisiensi komputasi.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Fitur Terpilih (6 Fitur):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Pregnancies, Glucose, BloodPressure, BMI, DiabetesPedigreeFunction, dan Age.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Fitur Dibuang: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SkinThickness dan Insulin karena daya prediksi rendah dan banyaknya data yang hilang.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212223"/>
            <a:ext cx="15475159" cy="3862555"/>
            <a:chOff x="0" y="0"/>
            <a:chExt cx="20633546" cy="5150073"/>
          </a:xfrm>
        </p:grpSpPr>
        <p:sp>
          <p:nvSpPr>
            <p:cNvPr name="AutoShape 4" id="4"/>
            <p:cNvSpPr/>
            <p:nvPr/>
          </p:nvSpPr>
          <p:spPr>
            <a:xfrm>
              <a:off x="62779" y="13200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PELATIHAN &amp; VALIDASI MODEL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11877"/>
              <a:ext cx="16469905" cy="3338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Algoritma yang Diuji: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Logistic Regression, Random Forest, Gradient Boosting, SVM, Decision Tree, dan Naive Bayes.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5-Fold Stratified Cross-Validation: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Membagi data menjadi 5 bagian untuk diuji secara bergantian guna menjamin hasil yang stabil dan tidak bias terhadap satu pembagian data saja.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002673"/>
            <a:ext cx="15475159" cy="4281655"/>
            <a:chOff x="0" y="0"/>
            <a:chExt cx="20633546" cy="5708873"/>
          </a:xfrm>
        </p:grpSpPr>
        <p:sp>
          <p:nvSpPr>
            <p:cNvPr name="AutoShape 4" id="4"/>
            <p:cNvSpPr/>
            <p:nvPr/>
          </p:nvSpPr>
          <p:spPr>
            <a:xfrm>
              <a:off x="62779" y="13200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HASIL EKSPERIMEN - MODEL TERBAIK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11877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Random Forest terpilih sebagai model terbaik dengan performa luar biasa,:</a:t>
              </a:r>
            </a:p>
            <a:p>
              <a:pPr algn="just">
                <a:lnSpc>
                  <a:spcPts val="3359"/>
                </a:lnSpc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   ◦ </a:t>
              </a:r>
              <a:r>
                <a:rPr lang="en-US" sz="2399" b="true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Recall: 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0,976 (Mendeteksi 97,6% pasien diabetes dengan benar).</a:t>
              </a:r>
            </a:p>
            <a:p>
              <a:pPr algn="just">
                <a:lnSpc>
                  <a:spcPts val="3359"/>
                </a:lnSpc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   ◦ </a:t>
              </a:r>
              <a:r>
                <a:rPr lang="en-US" sz="2399" b="true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Akurasi: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0,972.</a:t>
              </a:r>
            </a:p>
            <a:p>
              <a:pPr algn="just">
                <a:lnSpc>
                  <a:spcPts val="3359"/>
                </a:lnSpc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   ◦ </a:t>
              </a:r>
              <a:r>
                <a:rPr lang="en-US" sz="2399" b="true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ROC-AUC: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0,994 (Hampir sempurna dalam membedakan kelas).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Stabilitas: Standar deviasi yang sangat rendah (&lt;0,02) menunjukkan model konsisten di berbagai subset data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2859798"/>
            <a:ext cx="15475159" cy="4567405"/>
            <a:chOff x="0" y="0"/>
            <a:chExt cx="20633546" cy="6089873"/>
          </a:xfrm>
        </p:grpSpPr>
        <p:sp>
          <p:nvSpPr>
            <p:cNvPr name="AutoShape 4" id="4"/>
            <p:cNvSpPr/>
            <p:nvPr/>
          </p:nvSpPr>
          <p:spPr>
            <a:xfrm>
              <a:off x="62779" y="22598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2021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ANALISIS MATRIKS KEBINGUNGAN (CONFUSION MATRIX)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751677"/>
              <a:ext cx="16469905" cy="3338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Pada data uji yang seimbang:</a:t>
              </a:r>
            </a:p>
            <a:p>
              <a:pPr algn="just">
                <a:lnSpc>
                  <a:spcPts val="3359"/>
                </a:lnSpc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   ◦ True Positives: 96 (Sakit terdeteksi sakit).</a:t>
              </a:r>
            </a:p>
            <a:p>
              <a:pPr algn="just">
                <a:lnSpc>
                  <a:spcPts val="3359"/>
                </a:lnSpc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   ◦ False Negatives: Hanya 4 (Sakit terdeteksi sehat).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Penurunan drastis pada False Negative ini sangat krusial untuk keselamatan pasien di lingkungan klinis.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212223"/>
            <a:ext cx="15475159" cy="3862555"/>
            <a:chOff x="0" y="0"/>
            <a:chExt cx="20633546" cy="5150073"/>
          </a:xfrm>
        </p:grpSpPr>
        <p:sp>
          <p:nvSpPr>
            <p:cNvPr name="AutoShape 4" id="4"/>
            <p:cNvSpPr/>
            <p:nvPr/>
          </p:nvSpPr>
          <p:spPr>
            <a:xfrm>
              <a:off x="62779" y="13200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PERBANDINGAN DENGAN LITERATUR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11877"/>
              <a:ext cx="16469905" cy="3338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Peningkatan Recall: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Kerangka kerja ini mencapai peningkatan Recall sebesar 149% dibandingkan studi Ibrahim et al. (0,976 vs 0,39),.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Keunggulan:</a:t>
              </a:r>
              <a:r>
                <a:rPr lang="en-US" sz="2399">
                  <a:solidFill>
                    <a:srgbClr val="C3C5C6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 Integrasi SMOTE, RFE, dan K-Fold terbukti jauh lebih efektif daripada hanya menggunakan algoritma standar tanpa penyeimbangan data,.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69819" y="-2496048"/>
            <a:ext cx="21842778" cy="9261338"/>
          </a:xfrm>
          <a:custGeom>
            <a:avLst/>
            <a:gdLst/>
            <a:ahLst/>
            <a:cxnLst/>
            <a:rect r="r" b="b" t="t" l="l"/>
            <a:pathLst>
              <a:path h="9261338" w="21842778">
                <a:moveTo>
                  <a:pt x="0" y="0"/>
                </a:moveTo>
                <a:lnTo>
                  <a:pt x="21842778" y="0"/>
                </a:lnTo>
                <a:lnTo>
                  <a:pt x="21842778" y="9261338"/>
                </a:lnTo>
                <a:lnTo>
                  <a:pt x="0" y="92613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76916" y="3002673"/>
            <a:ext cx="15475159" cy="4281655"/>
            <a:chOff x="0" y="0"/>
            <a:chExt cx="20633546" cy="5708873"/>
          </a:xfrm>
        </p:grpSpPr>
        <p:sp>
          <p:nvSpPr>
            <p:cNvPr name="AutoShape 4" id="4"/>
            <p:cNvSpPr/>
            <p:nvPr/>
          </p:nvSpPr>
          <p:spPr>
            <a:xfrm>
              <a:off x="62779" y="1320026"/>
              <a:ext cx="757197" cy="0"/>
            </a:xfrm>
            <a:prstGeom prst="line">
              <a:avLst/>
            </a:prstGeom>
            <a:ln cap="flat" w="50800">
              <a:solidFill>
                <a:srgbClr val="D2B99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62779" y="47625"/>
              <a:ext cx="20570767" cy="1081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56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IMPLIKASI KLINIS &amp; KESIMPULAN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811877"/>
              <a:ext cx="16469905" cy="3896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Kesimpulan: </a:t>
              </a:r>
              <a:r>
                <a:rPr lang="en-US" sz="2399">
                  <a:solidFill>
                    <a:srgbClr val="C3C5C6"/>
                  </a:solidFill>
                  <a:latin typeface="Poppins"/>
                  <a:ea typeface="Poppins"/>
                  <a:cs typeface="Poppins"/>
                  <a:sym typeface="Poppins"/>
                </a:rPr>
                <a:t>Mengatasi redundansi fitur dan ketidakseimbangan data secara bersamaan adalah kunci untuk membangun CDSS yang andal.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Dampak Klinis:</a:t>
              </a:r>
              <a:r>
                <a:rPr lang="en-US" sz="2399">
                  <a:solidFill>
                    <a:srgbClr val="C3C5C6"/>
                  </a:solidFill>
                  <a:latin typeface="Poppins"/>
                  <a:ea typeface="Poppins"/>
                  <a:cs typeface="Poppins"/>
                  <a:sym typeface="Poppins"/>
                </a:rPr>
                <a:t> Intervensi dini yang lebih akurat, pencegahan komplikasi jangka panjang, dan efisiensi biaya perawatan kesehatan.</a:t>
              </a:r>
            </a:p>
            <a:p>
              <a:pPr algn="just" marL="518155" indent="-259078" lvl="1">
                <a:lnSpc>
                  <a:spcPts val="3359"/>
                </a:lnSpc>
                <a:buFont typeface="Arial"/>
                <a:buChar char="•"/>
              </a:pPr>
              <a:r>
                <a:rPr lang="en-US" b="true" sz="2399">
                  <a:solidFill>
                    <a:srgbClr val="C3C5C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Pekerjaan Masa Depan:</a:t>
              </a:r>
              <a:r>
                <a:rPr lang="en-US" sz="2399">
                  <a:solidFill>
                    <a:srgbClr val="C3C5C6"/>
                  </a:solidFill>
                  <a:latin typeface="Poppins"/>
                  <a:ea typeface="Poppins"/>
                  <a:cs typeface="Poppins"/>
                  <a:sym typeface="Poppins"/>
                </a:rPr>
                <a:t> Eksplorasi Deep Learning dan integrasi biomarker tambahan seperti HbA1c.</a:t>
              </a:r>
            </a:p>
            <a:p>
              <a:pPr algn="just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571750" y="1905000"/>
            <a:ext cx="13144500" cy="5573268"/>
          </a:xfrm>
          <a:custGeom>
            <a:avLst/>
            <a:gdLst/>
            <a:ahLst/>
            <a:cxnLst/>
            <a:rect r="r" b="b" t="t" l="l"/>
            <a:pathLst>
              <a:path h="5573268" w="13144500">
                <a:moveTo>
                  <a:pt x="0" y="0"/>
                </a:moveTo>
                <a:lnTo>
                  <a:pt x="13144500" y="0"/>
                </a:lnTo>
                <a:lnTo>
                  <a:pt x="13144500" y="5573268"/>
                </a:lnTo>
                <a:lnTo>
                  <a:pt x="0" y="55732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71750" y="2607999"/>
            <a:ext cx="7026020" cy="79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</a:pPr>
            <a:r>
              <a:rPr lang="en-US" sz="56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SEKIAN</a:t>
            </a:r>
          </a:p>
        </p:txBody>
      </p:sp>
      <p:sp>
        <p:nvSpPr>
          <p:cNvPr name="AutoShape 4" id="4"/>
          <p:cNvSpPr/>
          <p:nvPr/>
        </p:nvSpPr>
        <p:spPr>
          <a:xfrm>
            <a:off x="2571750" y="3521818"/>
            <a:ext cx="567898" cy="0"/>
          </a:xfrm>
          <a:prstGeom prst="line">
            <a:avLst/>
          </a:prstGeom>
          <a:ln cap="flat" w="38100">
            <a:solidFill>
              <a:srgbClr val="D2B99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6191250" y="4767580"/>
            <a:ext cx="5905500" cy="79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b="true" sz="5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TERIMA KASIH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291902"/>
            <a:ext cx="7187195" cy="587138"/>
            <a:chOff x="0" y="0"/>
            <a:chExt cx="9582926" cy="7828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82851" cy="782851"/>
            </a:xfrm>
            <a:custGeom>
              <a:avLst/>
              <a:gdLst/>
              <a:ahLst/>
              <a:cxnLst/>
              <a:rect r="r" b="b" t="t" l="l"/>
              <a:pathLst>
                <a:path h="782851" w="782851">
                  <a:moveTo>
                    <a:pt x="0" y="0"/>
                  </a:moveTo>
                  <a:lnTo>
                    <a:pt x="782851" y="0"/>
                  </a:lnTo>
                  <a:lnTo>
                    <a:pt x="782851" y="782851"/>
                  </a:lnTo>
                  <a:lnTo>
                    <a:pt x="0" y="78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 rot="0">
              <a:off x="919384" y="53010"/>
              <a:ext cx="4698519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UNIVERSITAS SYIAH KUALA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919384" y="383131"/>
              <a:ext cx="8663542" cy="356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800"/>
                </a:lnSpc>
              </a:pPr>
              <a:r>
                <a:rPr lang="en-US" sz="180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FAKULTAS MATEMATIKA DAN ILMU PENGETAHUAN ALAM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DAG8ifhnUko</dc:identifier>
  <dcterms:modified xsi:type="dcterms:W3CDTF">2011-08-01T06:04:30Z</dcterms:modified>
  <cp:revision>1</cp:revision>
  <dc:title>Improving Diabetes Detection Using K-Fold Cross Validation and Feature Selection</dc:title>
</cp:coreProperties>
</file>