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Poppins Bold" charset="1" panose="00000800000000000000"/>
      <p:regular r:id="rId14"/>
    </p:embeddedFont>
    <p:embeddedFont>
      <p:font typeface="Poppins" charset="1" panose="00000500000000000000"/>
      <p:regular r:id="rId15"/>
    </p:embeddedFont>
    <p:embeddedFont>
      <p:font typeface="Poppins Light" charset="1" panose="000004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84134" y="1702613"/>
            <a:ext cx="16230600" cy="6881774"/>
          </a:xfrm>
          <a:custGeom>
            <a:avLst/>
            <a:gdLst/>
            <a:ahLst/>
            <a:cxnLst/>
            <a:rect r="r" b="b" t="t" l="l"/>
            <a:pathLst>
              <a:path h="6881774" w="16230600">
                <a:moveTo>
                  <a:pt x="0" y="0"/>
                </a:moveTo>
                <a:lnTo>
                  <a:pt x="16230600" y="0"/>
                </a:lnTo>
                <a:lnTo>
                  <a:pt x="16230600" y="6881774"/>
                </a:lnTo>
                <a:lnTo>
                  <a:pt x="0" y="68817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345378" y="1905000"/>
            <a:ext cx="370872" cy="384751"/>
            <a:chOff x="0" y="0"/>
            <a:chExt cx="494495" cy="513001"/>
          </a:xfrm>
        </p:grpSpPr>
        <p:sp>
          <p:nvSpPr>
            <p:cNvPr name="AutoShape 4" id="4"/>
            <p:cNvSpPr/>
            <p:nvPr/>
          </p:nvSpPr>
          <p:spPr>
            <a:xfrm>
              <a:off x="13740" y="19050"/>
              <a:ext cx="480755" cy="0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" id="5"/>
            <p:cNvSpPr/>
            <p:nvPr/>
          </p:nvSpPr>
          <p:spPr>
            <a:xfrm flipV="true">
              <a:off x="475445" y="19050"/>
              <a:ext cx="0" cy="480755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" id="6"/>
            <p:cNvSpPr/>
            <p:nvPr/>
          </p:nvSpPr>
          <p:spPr>
            <a:xfrm flipV="true">
              <a:off x="13740" y="19050"/>
              <a:ext cx="461705" cy="480755"/>
            </a:xfrm>
            <a:prstGeom prst="line">
              <a:avLst/>
            </a:prstGeom>
            <a:ln cap="flat" w="38100">
              <a:solidFill>
                <a:srgbClr val="FFFFFF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1541500" y="3818157"/>
            <a:ext cx="15059022" cy="1668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1"/>
              </a:lnSpc>
            </a:pPr>
            <a:r>
              <a:rPr lang="en-US" b="true" sz="4201" spc="-8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IMPROVING DIABETES DETECTION USING K-FOLD CROSS</a:t>
            </a:r>
          </a:p>
          <a:p>
            <a:pPr algn="l">
              <a:lnSpc>
                <a:spcPts val="4201"/>
              </a:lnSpc>
            </a:pPr>
            <a:r>
              <a:rPr lang="en-US" b="true" sz="4201" spc="-84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VALIDATION AND FEATURE SELECTION</a:t>
            </a:r>
          </a:p>
          <a:p>
            <a:pPr algn="l">
              <a:lnSpc>
                <a:spcPts val="4201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541500" y="8081581"/>
            <a:ext cx="7529511" cy="721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8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MATA KULIAH PROGRAMMING FOR DATA SCIENCE AND ARTIFICIAL INTELLIGENCE</a:t>
            </a:r>
          </a:p>
          <a:p>
            <a:pPr algn="l">
              <a:lnSpc>
                <a:spcPts val="1800"/>
              </a:lnSpc>
            </a:pPr>
          </a:p>
        </p:txBody>
      </p:sp>
      <p:grpSp>
        <p:nvGrpSpPr>
          <p:cNvPr name="Group 9" id="9"/>
          <p:cNvGrpSpPr/>
          <p:nvPr/>
        </p:nvGrpSpPr>
        <p:grpSpPr>
          <a:xfrm rot="0">
            <a:off x="1490710" y="1510237"/>
            <a:ext cx="7187195" cy="587138"/>
            <a:chOff x="0" y="0"/>
            <a:chExt cx="9582926" cy="78285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82851" cy="782851"/>
            </a:xfrm>
            <a:custGeom>
              <a:avLst/>
              <a:gdLst/>
              <a:ahLst/>
              <a:cxnLst/>
              <a:rect r="r" b="b" t="t" l="l"/>
              <a:pathLst>
                <a:path h="782851" w="782851">
                  <a:moveTo>
                    <a:pt x="0" y="0"/>
                  </a:moveTo>
                  <a:lnTo>
                    <a:pt x="782851" y="0"/>
                  </a:lnTo>
                  <a:lnTo>
                    <a:pt x="782851" y="782851"/>
                  </a:lnTo>
                  <a:lnTo>
                    <a:pt x="0" y="7828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919384" y="53010"/>
              <a:ext cx="4698519" cy="3562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800"/>
                </a:lnSpc>
              </a:pPr>
              <a:r>
                <a:rPr lang="en-US" sz="18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UNIVERSITAS SYIAH KUALA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919384" y="383131"/>
              <a:ext cx="8663542" cy="3562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800"/>
                </a:lnSpc>
              </a:pPr>
              <a:r>
                <a:rPr lang="en-US" sz="18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FAKULTAS MATEMATIKA DAN ILMU PENGETAHUAN ALAM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541500" y="6334697"/>
            <a:ext cx="6127098" cy="918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23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SYAUKAS RAHMATILLAH</a:t>
            </a:r>
          </a:p>
          <a:p>
            <a:pPr algn="l">
              <a:lnSpc>
                <a:spcPts val="2399"/>
              </a:lnSpc>
            </a:pPr>
            <a:r>
              <a:rPr lang="en-US" sz="23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MUHAMMAD ALI MURTAZA</a:t>
            </a:r>
          </a:p>
          <a:p>
            <a:pPr algn="l">
              <a:lnSpc>
                <a:spcPts val="2399"/>
              </a:lnSpc>
            </a:pPr>
            <a:r>
              <a:rPr lang="en-US" sz="2399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PROGRAM STUDI KECERDASAN BUATAN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7881015" y="-1112315"/>
            <a:ext cx="16230600" cy="6881774"/>
          </a:xfrm>
          <a:custGeom>
            <a:avLst/>
            <a:gdLst/>
            <a:ahLst/>
            <a:cxnLst/>
            <a:rect r="r" b="b" t="t" l="l"/>
            <a:pathLst>
              <a:path h="6881774" w="16230600">
                <a:moveTo>
                  <a:pt x="16230600" y="0"/>
                </a:moveTo>
                <a:lnTo>
                  <a:pt x="0" y="0"/>
                </a:lnTo>
                <a:lnTo>
                  <a:pt x="0" y="6881774"/>
                </a:lnTo>
                <a:lnTo>
                  <a:pt x="16230600" y="6881774"/>
                </a:lnTo>
                <a:lnTo>
                  <a:pt x="1623060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76916" y="2124334"/>
            <a:ext cx="12352428" cy="6038332"/>
            <a:chOff x="0" y="0"/>
            <a:chExt cx="16469905" cy="8051109"/>
          </a:xfrm>
        </p:grpSpPr>
        <p:sp>
          <p:nvSpPr>
            <p:cNvPr name="AutoShape 4" id="4"/>
            <p:cNvSpPr/>
            <p:nvPr/>
          </p:nvSpPr>
          <p:spPr>
            <a:xfrm>
              <a:off x="0" y="1281926"/>
              <a:ext cx="757197" cy="0"/>
            </a:xfrm>
            <a:prstGeom prst="line">
              <a:avLst/>
            </a:prstGeom>
            <a:ln cap="flat" w="50800">
              <a:solidFill>
                <a:srgbClr val="D2B99A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5" id="5"/>
            <p:cNvSpPr txBox="true"/>
            <p:nvPr/>
          </p:nvSpPr>
          <p:spPr>
            <a:xfrm rot="0">
              <a:off x="0" y="47625"/>
              <a:ext cx="8538799" cy="10818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600"/>
                </a:lnSpc>
              </a:pPr>
              <a:r>
                <a:rPr lang="en-US" sz="56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MOTIVATION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918914"/>
              <a:ext cx="16469905" cy="6132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518155" indent="-259078" lvl="1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C3C5C6"/>
                  </a:solidFill>
                  <a:latin typeface="Poppins"/>
                  <a:ea typeface="Poppins"/>
                  <a:cs typeface="Poppins"/>
                  <a:sym typeface="Poppins"/>
                </a:rPr>
                <a:t>Diabetes Mellitus merupakan penyakit kronis dengan angka kematian dan komplikasi yang tinggi di seluruh dunia.</a:t>
              </a:r>
            </a:p>
            <a:p>
              <a:pPr algn="just" marL="518155" indent="-259078" lvl="1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C3C5C6"/>
                  </a:solidFill>
                  <a:latin typeface="Poppins"/>
                  <a:ea typeface="Poppins"/>
                  <a:cs typeface="Poppins"/>
                  <a:sym typeface="Poppins"/>
                </a:rPr>
                <a:t>Deteksi dini diabetes sangat penting untuk mencegah komplikasi serius seperti penyakit jantung, gagal ginjal, dan kebutaan.</a:t>
              </a:r>
            </a:p>
            <a:p>
              <a:pPr algn="just" marL="518155" indent="-259078" lvl="1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C3C5C6"/>
                  </a:solidFill>
                  <a:latin typeface="Poppins"/>
                  <a:ea typeface="Poppins"/>
                  <a:cs typeface="Poppins"/>
                  <a:sym typeface="Poppins"/>
                </a:rPr>
                <a:t>Banyak model Machine Learning mencapai akurasi tinggi, tetapi gagal mendeteksi pasien diabetes karena class imbalance.</a:t>
              </a:r>
            </a:p>
            <a:p>
              <a:pPr algn="just" marL="518155" indent="-259078" lvl="1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C3C5C6"/>
                  </a:solidFill>
                  <a:latin typeface="Poppins"/>
                  <a:ea typeface="Poppins"/>
                  <a:cs typeface="Poppins"/>
                  <a:sym typeface="Poppins"/>
                </a:rPr>
                <a:t>Kesalahan False Negative sangat berbahaya dalam diagnosis medis karena pasien tidak mendapatkan penanganan tepat waktu.</a:t>
              </a:r>
            </a:p>
            <a:p>
              <a:pPr algn="just" marL="518155" indent="-259078" lvl="1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C3C5C6"/>
                  </a:solidFill>
                  <a:latin typeface="Poppins"/>
                  <a:ea typeface="Poppins"/>
                  <a:cs typeface="Poppins"/>
                  <a:sym typeface="Poppins"/>
                </a:rPr>
                <a:t>Oleh karena itu, diperlukan pendekatan yang berfokus pada peningkatan Recall dan stabilitas model.</a:t>
              </a:r>
            </a:p>
            <a:p>
              <a:pPr algn="just">
                <a:lnSpc>
                  <a:spcPts val="33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291902"/>
            <a:ext cx="7187195" cy="587138"/>
            <a:chOff x="0" y="0"/>
            <a:chExt cx="9582926" cy="78285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82851" cy="782851"/>
            </a:xfrm>
            <a:custGeom>
              <a:avLst/>
              <a:gdLst/>
              <a:ahLst/>
              <a:cxnLst/>
              <a:rect r="r" b="b" t="t" l="l"/>
              <a:pathLst>
                <a:path h="782851" w="782851">
                  <a:moveTo>
                    <a:pt x="0" y="0"/>
                  </a:moveTo>
                  <a:lnTo>
                    <a:pt x="782851" y="0"/>
                  </a:lnTo>
                  <a:lnTo>
                    <a:pt x="782851" y="782851"/>
                  </a:lnTo>
                  <a:lnTo>
                    <a:pt x="0" y="7828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919384" y="53010"/>
              <a:ext cx="4698519" cy="3562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800"/>
                </a:lnSpc>
              </a:pPr>
              <a:r>
                <a:rPr lang="en-US" sz="18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UNIVERSITAS SYIAH KUALA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919384" y="383131"/>
              <a:ext cx="8663542" cy="3562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800"/>
                </a:lnSpc>
              </a:pPr>
              <a:r>
                <a:rPr lang="en-US" sz="18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FAKULTAS MATEMATIKA DAN ILMU PENGETAHUAN ALAM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458246" y="-1743787"/>
            <a:ext cx="20814942" cy="8825535"/>
          </a:xfrm>
          <a:custGeom>
            <a:avLst/>
            <a:gdLst/>
            <a:ahLst/>
            <a:cxnLst/>
            <a:rect r="r" b="b" t="t" l="l"/>
            <a:pathLst>
              <a:path h="8825535" w="20814942">
                <a:moveTo>
                  <a:pt x="0" y="0"/>
                </a:moveTo>
                <a:lnTo>
                  <a:pt x="20814942" y="0"/>
                </a:lnTo>
                <a:lnTo>
                  <a:pt x="20814942" y="8825536"/>
                </a:lnTo>
                <a:lnTo>
                  <a:pt x="0" y="88255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76916" y="2077502"/>
            <a:ext cx="12352428" cy="6131996"/>
            <a:chOff x="0" y="0"/>
            <a:chExt cx="16469905" cy="8175994"/>
          </a:xfrm>
        </p:grpSpPr>
        <p:sp>
          <p:nvSpPr>
            <p:cNvPr name="AutoShape 4" id="4"/>
            <p:cNvSpPr/>
            <p:nvPr/>
          </p:nvSpPr>
          <p:spPr>
            <a:xfrm>
              <a:off x="0" y="1281926"/>
              <a:ext cx="757197" cy="0"/>
            </a:xfrm>
            <a:prstGeom prst="line">
              <a:avLst/>
            </a:prstGeom>
            <a:ln cap="flat" w="50800">
              <a:solidFill>
                <a:srgbClr val="D2B99A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5" id="5"/>
            <p:cNvSpPr txBox="true"/>
            <p:nvPr/>
          </p:nvSpPr>
          <p:spPr>
            <a:xfrm rot="0">
              <a:off x="0" y="47625"/>
              <a:ext cx="9944355" cy="10818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600"/>
                </a:lnSpc>
              </a:pPr>
              <a:r>
                <a:rPr lang="en-US" sz="56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RELATED WORK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2043799"/>
              <a:ext cx="16469905" cy="61321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518155" indent="-259078" lvl="1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C3C5C6"/>
                  </a:solidFill>
                  <a:latin typeface="Poppins"/>
                  <a:ea typeface="Poppins"/>
                  <a:cs typeface="Poppins"/>
                  <a:sym typeface="Poppins"/>
                </a:rPr>
                <a:t>Penelitian sebelumnya menggunakan algoritma seperti Logistic Regression, SVM, Naive Bayes, dan Neural Network untuk prediksi diabetes.</a:t>
              </a:r>
            </a:p>
            <a:p>
              <a:pPr algn="just" marL="518155" indent="-259078" lvl="1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C3C5C6"/>
                  </a:solidFill>
                  <a:latin typeface="Poppins"/>
                  <a:ea typeface="Poppins"/>
                  <a:cs typeface="Poppins"/>
                  <a:sym typeface="Poppins"/>
                </a:rPr>
                <a:t>Sebagian besar studi hanya menggunakan train-test split dan berfokus pada metrik akurasi.</a:t>
              </a:r>
            </a:p>
            <a:p>
              <a:pPr algn="just" marL="518155" indent="-259078" lvl="1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C3C5C6"/>
                  </a:solidFill>
                  <a:latin typeface="Poppins"/>
                  <a:ea typeface="Poppins"/>
                  <a:cs typeface="Poppins"/>
                  <a:sym typeface="Poppins"/>
                </a:rPr>
                <a:t>Teknik SMOTE terbukti mampu mengatasi ketidakseimbangan data, tetapi jarang dikombinasikan dengan seleksi fitur.</a:t>
              </a:r>
            </a:p>
            <a:p>
              <a:pPr algn="just" marL="518155" indent="-259078" lvl="1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C3C5C6"/>
                  </a:solidFill>
                  <a:latin typeface="Poppins"/>
                  <a:ea typeface="Poppins"/>
                  <a:cs typeface="Poppins"/>
                  <a:sym typeface="Poppins"/>
                </a:rPr>
                <a:t>Feature selection seperti Information Gain dan RFE dapat meningkatkan efisiensi model.</a:t>
              </a:r>
            </a:p>
            <a:p>
              <a:pPr algn="just" marL="518155" indent="-259078" lvl="1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C3C5C6"/>
                  </a:solidFill>
                  <a:latin typeface="Poppins"/>
                  <a:ea typeface="Poppins"/>
                  <a:cs typeface="Poppins"/>
                  <a:sym typeface="Poppins"/>
                </a:rPr>
                <a:t>Masih sedikit penelitian yang mengintegrasikan SMOTE, RFE, dan K-Fold Cross Validation dalam satu pipeline terpadu.</a:t>
              </a:r>
            </a:p>
            <a:p>
              <a:pPr algn="just">
                <a:lnSpc>
                  <a:spcPts val="33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291902"/>
            <a:ext cx="7187195" cy="587138"/>
            <a:chOff x="0" y="0"/>
            <a:chExt cx="9582926" cy="78285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82851" cy="782851"/>
            </a:xfrm>
            <a:custGeom>
              <a:avLst/>
              <a:gdLst/>
              <a:ahLst/>
              <a:cxnLst/>
              <a:rect r="r" b="b" t="t" l="l"/>
              <a:pathLst>
                <a:path h="782851" w="782851">
                  <a:moveTo>
                    <a:pt x="0" y="0"/>
                  </a:moveTo>
                  <a:lnTo>
                    <a:pt x="782851" y="0"/>
                  </a:lnTo>
                  <a:lnTo>
                    <a:pt x="782851" y="782851"/>
                  </a:lnTo>
                  <a:lnTo>
                    <a:pt x="0" y="7828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919384" y="53010"/>
              <a:ext cx="4698519" cy="3562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800"/>
                </a:lnSpc>
              </a:pPr>
              <a:r>
                <a:rPr lang="en-US" sz="18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UNIVERSITAS SYIAH KUALA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919384" y="383131"/>
              <a:ext cx="8663542" cy="3562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800"/>
                </a:lnSpc>
              </a:pPr>
              <a:r>
                <a:rPr lang="en-US" sz="18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FAKULTAS MATEMATIKA DAN ILMU PENGETAHUAN ALAM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169819" y="-2496048"/>
            <a:ext cx="21842778" cy="9261338"/>
          </a:xfrm>
          <a:custGeom>
            <a:avLst/>
            <a:gdLst/>
            <a:ahLst/>
            <a:cxnLst/>
            <a:rect r="r" b="b" t="t" l="l"/>
            <a:pathLst>
              <a:path h="9261338" w="21842778">
                <a:moveTo>
                  <a:pt x="0" y="0"/>
                </a:moveTo>
                <a:lnTo>
                  <a:pt x="21842778" y="0"/>
                </a:lnTo>
                <a:lnTo>
                  <a:pt x="21842778" y="9261338"/>
                </a:lnTo>
                <a:lnTo>
                  <a:pt x="0" y="92613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76916" y="1969210"/>
            <a:ext cx="12352428" cy="6348580"/>
            <a:chOff x="0" y="0"/>
            <a:chExt cx="16469905" cy="8464773"/>
          </a:xfrm>
        </p:grpSpPr>
        <p:sp>
          <p:nvSpPr>
            <p:cNvPr name="AutoShape 4" id="4"/>
            <p:cNvSpPr/>
            <p:nvPr/>
          </p:nvSpPr>
          <p:spPr>
            <a:xfrm>
              <a:off x="62779" y="1281926"/>
              <a:ext cx="757197" cy="0"/>
            </a:xfrm>
            <a:prstGeom prst="line">
              <a:avLst/>
            </a:prstGeom>
            <a:ln cap="flat" w="50800">
              <a:solidFill>
                <a:srgbClr val="D2B99A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5" id="5"/>
            <p:cNvSpPr txBox="true"/>
            <p:nvPr/>
          </p:nvSpPr>
          <p:spPr>
            <a:xfrm rot="0">
              <a:off x="62779" y="47625"/>
              <a:ext cx="9576318" cy="10818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600"/>
                </a:lnSpc>
              </a:pPr>
              <a:r>
                <a:rPr lang="en-US" sz="56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METHOD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773777"/>
              <a:ext cx="16469905" cy="66909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518155" indent="-259078" lvl="1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C3C5C6"/>
                  </a:solidFill>
                  <a:latin typeface="Poppins"/>
                  <a:ea typeface="Poppins"/>
                  <a:cs typeface="Poppins"/>
                  <a:sym typeface="Poppins"/>
                </a:rPr>
                <a:t>Dataset yang digunakan adalah Pima Indian Diabetes Dataset (PIDD) dengan 768 data dan 8 fitur klinis.</a:t>
              </a:r>
            </a:p>
            <a:p>
              <a:pPr algn="just" marL="518155" indent="-259078" lvl="1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C3C5C6"/>
                  </a:solidFill>
                  <a:latin typeface="Poppins"/>
                  <a:ea typeface="Poppins"/>
                  <a:cs typeface="Poppins"/>
                  <a:sym typeface="Poppins"/>
                </a:rPr>
                <a:t>Tahapan preprocessing meliputi:</a:t>
              </a:r>
            </a:p>
            <a:p>
              <a:pPr algn="just" marL="1036310" indent="-345437" lvl="2">
                <a:lnSpc>
                  <a:spcPts val="3359"/>
                </a:lnSpc>
                <a:buFont typeface="Arial"/>
                <a:buChar char="⚬"/>
              </a:pPr>
              <a:r>
                <a:rPr lang="en-US" sz="2399">
                  <a:solidFill>
                    <a:srgbClr val="C3C5C6"/>
                  </a:solidFill>
                  <a:latin typeface="Poppins"/>
                  <a:ea typeface="Poppins"/>
                  <a:cs typeface="Poppins"/>
                  <a:sym typeface="Poppins"/>
                </a:rPr>
                <a:t>Penanganan missing value menggunakan median imputation</a:t>
              </a:r>
            </a:p>
            <a:p>
              <a:pPr algn="just" marL="1036310" indent="-345437" lvl="2">
                <a:lnSpc>
                  <a:spcPts val="3359"/>
                </a:lnSpc>
                <a:buFont typeface="Arial"/>
                <a:buChar char="⚬"/>
              </a:pPr>
              <a:r>
                <a:rPr lang="en-US" sz="2399">
                  <a:solidFill>
                    <a:srgbClr val="C3C5C6"/>
                  </a:solidFill>
                  <a:latin typeface="Poppins"/>
                  <a:ea typeface="Poppins"/>
                  <a:cs typeface="Poppins"/>
                  <a:sym typeface="Poppins"/>
                </a:rPr>
                <a:t>Standardisasi fitur menggunakan Z-score normalization</a:t>
              </a:r>
            </a:p>
            <a:p>
              <a:pPr algn="just" marL="518155" indent="-259078" lvl="1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C3C5C6"/>
                  </a:solidFill>
                  <a:latin typeface="Poppins"/>
                  <a:ea typeface="Poppins"/>
                  <a:cs typeface="Poppins"/>
                  <a:sym typeface="Poppins"/>
                </a:rPr>
                <a:t>SMOTE diterapkan untuk menyeimbangkan kelas diabetes dan non-diabetes.</a:t>
              </a:r>
            </a:p>
            <a:p>
              <a:pPr algn="just" marL="518155" indent="-259078" lvl="1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C3C5C6"/>
                  </a:solidFill>
                  <a:latin typeface="Poppins"/>
                  <a:ea typeface="Poppins"/>
                  <a:cs typeface="Poppins"/>
                  <a:sym typeface="Poppins"/>
                </a:rPr>
                <a:t>Recursive Feature Elimination (RFE) digunakan untuk memilih fitur paling relevan.</a:t>
              </a:r>
            </a:p>
            <a:p>
              <a:pPr algn="just" marL="518155" indent="-259078" lvl="1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C3C5C6"/>
                  </a:solidFill>
                  <a:latin typeface="Poppins"/>
                  <a:ea typeface="Poppins"/>
                  <a:cs typeface="Poppins"/>
                  <a:sym typeface="Poppins"/>
                </a:rPr>
                <a:t>Model dievaluasi menggunakan 5-Fold Stratified Cross Validation.</a:t>
              </a:r>
            </a:p>
            <a:p>
              <a:pPr algn="just" marL="518155" indent="-259078" lvl="1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C3C5C6"/>
                  </a:solidFill>
                  <a:latin typeface="Poppins"/>
                  <a:ea typeface="Poppins"/>
                  <a:cs typeface="Poppins"/>
                  <a:sym typeface="Poppins"/>
                </a:rPr>
                <a:t>Algoritma yang diuji: Logistic Regression, Random Forest, Gradient Boosting, SVM, Decision Tree, dan Naive Bayes.</a:t>
              </a:r>
            </a:p>
            <a:p>
              <a:pPr algn="just">
                <a:lnSpc>
                  <a:spcPts val="33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291902"/>
            <a:ext cx="7187195" cy="587138"/>
            <a:chOff x="0" y="0"/>
            <a:chExt cx="9582926" cy="78285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82851" cy="782851"/>
            </a:xfrm>
            <a:custGeom>
              <a:avLst/>
              <a:gdLst/>
              <a:ahLst/>
              <a:cxnLst/>
              <a:rect r="r" b="b" t="t" l="l"/>
              <a:pathLst>
                <a:path h="782851" w="782851">
                  <a:moveTo>
                    <a:pt x="0" y="0"/>
                  </a:moveTo>
                  <a:lnTo>
                    <a:pt x="782851" y="0"/>
                  </a:lnTo>
                  <a:lnTo>
                    <a:pt x="782851" y="782851"/>
                  </a:lnTo>
                  <a:lnTo>
                    <a:pt x="0" y="7828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919384" y="53010"/>
              <a:ext cx="4698519" cy="3562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800"/>
                </a:lnSpc>
              </a:pPr>
              <a:r>
                <a:rPr lang="en-US" sz="18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UNIVERSITAS SYIAH KUALA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919384" y="383131"/>
              <a:ext cx="8663542" cy="3562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800"/>
                </a:lnSpc>
              </a:pPr>
              <a:r>
                <a:rPr lang="en-US" sz="18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FAKULTAS MATEMATIKA DAN ILMU PENGETAHUAN ALAM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169819" y="-2496048"/>
            <a:ext cx="21842778" cy="9261338"/>
          </a:xfrm>
          <a:custGeom>
            <a:avLst/>
            <a:gdLst/>
            <a:ahLst/>
            <a:cxnLst/>
            <a:rect r="r" b="b" t="t" l="l"/>
            <a:pathLst>
              <a:path h="9261338" w="21842778">
                <a:moveTo>
                  <a:pt x="0" y="0"/>
                </a:moveTo>
                <a:lnTo>
                  <a:pt x="21842778" y="0"/>
                </a:lnTo>
                <a:lnTo>
                  <a:pt x="21842778" y="9261338"/>
                </a:lnTo>
                <a:lnTo>
                  <a:pt x="0" y="92613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76916" y="1531060"/>
            <a:ext cx="12352428" cy="7224880"/>
            <a:chOff x="0" y="0"/>
            <a:chExt cx="16469905" cy="9633173"/>
          </a:xfrm>
        </p:grpSpPr>
        <p:sp>
          <p:nvSpPr>
            <p:cNvPr name="AutoShape 4" id="4"/>
            <p:cNvSpPr/>
            <p:nvPr/>
          </p:nvSpPr>
          <p:spPr>
            <a:xfrm>
              <a:off x="62779" y="1332726"/>
              <a:ext cx="757197" cy="0"/>
            </a:xfrm>
            <a:prstGeom prst="line">
              <a:avLst/>
            </a:prstGeom>
            <a:ln cap="flat" w="50800">
              <a:solidFill>
                <a:srgbClr val="D2B99A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5" id="5"/>
            <p:cNvSpPr txBox="true"/>
            <p:nvPr/>
          </p:nvSpPr>
          <p:spPr>
            <a:xfrm rot="0">
              <a:off x="62779" y="47625"/>
              <a:ext cx="13491927" cy="10818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600"/>
                </a:lnSpc>
              </a:pPr>
              <a:r>
                <a:rPr lang="en-US" sz="56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EXPERIMENTS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824577"/>
              <a:ext cx="16469905" cy="78085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518155" indent="-259078" lvl="1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C3C5C6"/>
                  </a:solidFill>
                  <a:latin typeface="Poppins"/>
                  <a:ea typeface="Poppins"/>
                  <a:cs typeface="Poppins"/>
                  <a:sym typeface="Poppins"/>
                </a:rPr>
                <a:t>Evaluasi dilakukan menggunakan metrik:</a:t>
              </a:r>
            </a:p>
            <a:p>
              <a:pPr algn="just" marL="1036310" indent="-345437" lvl="2">
                <a:lnSpc>
                  <a:spcPts val="3359"/>
                </a:lnSpc>
                <a:buFont typeface="Arial"/>
                <a:buChar char="⚬"/>
              </a:pPr>
              <a:r>
                <a:rPr lang="en-US" sz="2399">
                  <a:solidFill>
                    <a:srgbClr val="C3C5C6"/>
                  </a:solidFill>
                  <a:latin typeface="Poppins"/>
                  <a:ea typeface="Poppins"/>
                  <a:cs typeface="Poppins"/>
                  <a:sym typeface="Poppins"/>
                </a:rPr>
                <a:t>Accuracy</a:t>
              </a:r>
            </a:p>
            <a:p>
              <a:pPr algn="just" marL="1036310" indent="-345437" lvl="2">
                <a:lnSpc>
                  <a:spcPts val="3359"/>
                </a:lnSpc>
                <a:buFont typeface="Arial"/>
                <a:buChar char="⚬"/>
              </a:pPr>
              <a:r>
                <a:rPr lang="en-US" sz="2399">
                  <a:solidFill>
                    <a:srgbClr val="C3C5C6"/>
                  </a:solidFill>
                  <a:latin typeface="Poppins"/>
                  <a:ea typeface="Poppins"/>
                  <a:cs typeface="Poppins"/>
                  <a:sym typeface="Poppins"/>
                </a:rPr>
                <a:t>Precision</a:t>
              </a:r>
            </a:p>
            <a:p>
              <a:pPr algn="just" marL="1036310" indent="-345437" lvl="2">
                <a:lnSpc>
                  <a:spcPts val="3359"/>
                </a:lnSpc>
                <a:buFont typeface="Arial"/>
                <a:buChar char="⚬"/>
              </a:pPr>
              <a:r>
                <a:rPr lang="en-US" sz="2399">
                  <a:solidFill>
                    <a:srgbClr val="C3C5C6"/>
                  </a:solidFill>
                  <a:latin typeface="Poppins"/>
                  <a:ea typeface="Poppins"/>
                  <a:cs typeface="Poppins"/>
                  <a:sym typeface="Poppins"/>
                </a:rPr>
                <a:t>Recall (metrik utama)</a:t>
              </a:r>
            </a:p>
            <a:p>
              <a:pPr algn="just" marL="1036310" indent="-345437" lvl="2">
                <a:lnSpc>
                  <a:spcPts val="3359"/>
                </a:lnSpc>
                <a:buFont typeface="Arial"/>
                <a:buChar char="⚬"/>
              </a:pPr>
              <a:r>
                <a:rPr lang="en-US" sz="2399">
                  <a:solidFill>
                    <a:srgbClr val="C3C5C6"/>
                  </a:solidFill>
                  <a:latin typeface="Poppins"/>
                  <a:ea typeface="Poppins"/>
                  <a:cs typeface="Poppins"/>
                  <a:sym typeface="Poppins"/>
                </a:rPr>
                <a:t>F1-Score</a:t>
              </a:r>
            </a:p>
            <a:p>
              <a:pPr algn="just" marL="1036310" indent="-345437" lvl="2">
                <a:lnSpc>
                  <a:spcPts val="3359"/>
                </a:lnSpc>
                <a:buFont typeface="Arial"/>
                <a:buChar char="⚬"/>
              </a:pPr>
              <a:r>
                <a:rPr lang="en-US" sz="2399">
                  <a:solidFill>
                    <a:srgbClr val="C3C5C6"/>
                  </a:solidFill>
                  <a:latin typeface="Poppins"/>
                  <a:ea typeface="Poppins"/>
                  <a:cs typeface="Poppins"/>
                  <a:sym typeface="Poppins"/>
                </a:rPr>
                <a:t>ROC-AUC</a:t>
              </a:r>
            </a:p>
            <a:p>
              <a:pPr algn="just" marL="518155" indent="-259078" lvl="1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C3C5C6"/>
                  </a:solidFill>
                  <a:latin typeface="Poppins"/>
                  <a:ea typeface="Poppins"/>
                  <a:cs typeface="Poppins"/>
                  <a:sym typeface="Poppins"/>
                </a:rPr>
                <a:t>Setelah SMOTE, distribusi kelas menjadi seimbang.</a:t>
              </a:r>
            </a:p>
            <a:p>
              <a:pPr algn="just" marL="518155" indent="-259078" lvl="1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C3C5C6"/>
                  </a:solidFill>
                  <a:latin typeface="Poppins"/>
                  <a:ea typeface="Poppins"/>
                  <a:cs typeface="Poppins"/>
                  <a:sym typeface="Poppins"/>
                </a:rPr>
                <a:t>RFE memilih 6 fitur paling penting: Glucose, BMI, Age, DPF, Pregnancies, dan BloodPressure.</a:t>
              </a:r>
            </a:p>
            <a:p>
              <a:pPr algn="just" marL="518155" indent="-259078" lvl="1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C3C5C6"/>
                  </a:solidFill>
                  <a:latin typeface="Poppins"/>
                  <a:ea typeface="Poppins"/>
                  <a:cs typeface="Poppins"/>
                  <a:sym typeface="Poppins"/>
                </a:rPr>
                <a:t>Random Forest menunjukkan performa terbaik dengan:</a:t>
              </a:r>
            </a:p>
            <a:p>
              <a:pPr algn="just" marL="1036310" indent="-345437" lvl="2">
                <a:lnSpc>
                  <a:spcPts val="3359"/>
                </a:lnSpc>
                <a:buFont typeface="Arial"/>
                <a:buChar char="⚬"/>
              </a:pPr>
              <a:r>
                <a:rPr lang="en-US" sz="2399">
                  <a:solidFill>
                    <a:srgbClr val="C3C5C6"/>
                  </a:solidFill>
                  <a:latin typeface="Poppins"/>
                  <a:ea typeface="Poppins"/>
                  <a:cs typeface="Poppins"/>
                  <a:sym typeface="Poppins"/>
                </a:rPr>
                <a:t>Recall ≈ 0.976</a:t>
              </a:r>
            </a:p>
            <a:p>
              <a:pPr algn="just" marL="1036310" indent="-345437" lvl="2">
                <a:lnSpc>
                  <a:spcPts val="3359"/>
                </a:lnSpc>
                <a:buFont typeface="Arial"/>
                <a:buChar char="⚬"/>
              </a:pPr>
              <a:r>
                <a:rPr lang="en-US" sz="2399">
                  <a:solidFill>
                    <a:srgbClr val="C3C5C6"/>
                  </a:solidFill>
                  <a:latin typeface="Poppins"/>
                  <a:ea typeface="Poppins"/>
                  <a:cs typeface="Poppins"/>
                  <a:sym typeface="Poppins"/>
                </a:rPr>
                <a:t>Accuracy ≈ 0.972</a:t>
              </a:r>
            </a:p>
            <a:p>
              <a:pPr algn="just" marL="1036310" indent="-345437" lvl="2">
                <a:lnSpc>
                  <a:spcPts val="3359"/>
                </a:lnSpc>
                <a:buFont typeface="Arial"/>
                <a:buChar char="⚬"/>
              </a:pPr>
              <a:r>
                <a:rPr lang="en-US" sz="2399">
                  <a:solidFill>
                    <a:srgbClr val="C3C5C6"/>
                  </a:solidFill>
                  <a:latin typeface="Poppins"/>
                  <a:ea typeface="Poppins"/>
                  <a:cs typeface="Poppins"/>
                  <a:sym typeface="Poppins"/>
                </a:rPr>
                <a:t>ROC-AUC ≈ 0.994</a:t>
              </a:r>
            </a:p>
            <a:p>
              <a:pPr algn="just">
                <a:lnSpc>
                  <a:spcPts val="33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291902"/>
            <a:ext cx="7187195" cy="587138"/>
            <a:chOff x="0" y="0"/>
            <a:chExt cx="9582926" cy="78285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82851" cy="782851"/>
            </a:xfrm>
            <a:custGeom>
              <a:avLst/>
              <a:gdLst/>
              <a:ahLst/>
              <a:cxnLst/>
              <a:rect r="r" b="b" t="t" l="l"/>
              <a:pathLst>
                <a:path h="782851" w="782851">
                  <a:moveTo>
                    <a:pt x="0" y="0"/>
                  </a:moveTo>
                  <a:lnTo>
                    <a:pt x="782851" y="0"/>
                  </a:lnTo>
                  <a:lnTo>
                    <a:pt x="782851" y="782851"/>
                  </a:lnTo>
                  <a:lnTo>
                    <a:pt x="0" y="7828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919384" y="53010"/>
              <a:ext cx="4698519" cy="3562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800"/>
                </a:lnSpc>
              </a:pPr>
              <a:r>
                <a:rPr lang="en-US" sz="18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UNIVERSITAS SYIAH KUALA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919384" y="383131"/>
              <a:ext cx="8663542" cy="3562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800"/>
                </a:lnSpc>
              </a:pPr>
              <a:r>
                <a:rPr lang="en-US" sz="18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FAKULTAS MATEMATIKA DAN ILMU PENGETAHUAN ALAM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169819" y="-2496048"/>
            <a:ext cx="21842778" cy="9261338"/>
          </a:xfrm>
          <a:custGeom>
            <a:avLst/>
            <a:gdLst/>
            <a:ahLst/>
            <a:cxnLst/>
            <a:rect r="r" b="b" t="t" l="l"/>
            <a:pathLst>
              <a:path h="9261338" w="21842778">
                <a:moveTo>
                  <a:pt x="0" y="0"/>
                </a:moveTo>
                <a:lnTo>
                  <a:pt x="21842778" y="0"/>
                </a:lnTo>
                <a:lnTo>
                  <a:pt x="21842778" y="9261338"/>
                </a:lnTo>
                <a:lnTo>
                  <a:pt x="0" y="92613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76916" y="2597860"/>
            <a:ext cx="12352428" cy="5091280"/>
            <a:chOff x="0" y="0"/>
            <a:chExt cx="16469905" cy="6788373"/>
          </a:xfrm>
        </p:grpSpPr>
        <p:sp>
          <p:nvSpPr>
            <p:cNvPr name="AutoShape 4" id="4"/>
            <p:cNvSpPr/>
            <p:nvPr/>
          </p:nvSpPr>
          <p:spPr>
            <a:xfrm>
              <a:off x="62779" y="1281926"/>
              <a:ext cx="757197" cy="0"/>
            </a:xfrm>
            <a:prstGeom prst="line">
              <a:avLst/>
            </a:prstGeom>
            <a:ln cap="flat" w="50800">
              <a:solidFill>
                <a:srgbClr val="D2B99A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5" id="5"/>
            <p:cNvSpPr txBox="true"/>
            <p:nvPr/>
          </p:nvSpPr>
          <p:spPr>
            <a:xfrm rot="0">
              <a:off x="62779" y="47625"/>
              <a:ext cx="12848756" cy="10818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600"/>
                </a:lnSpc>
              </a:pPr>
              <a:r>
                <a:rPr lang="en-US" sz="56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DISCUSSION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773777"/>
              <a:ext cx="16469905" cy="50145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518155" indent="-259078" lvl="1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C3C5C6"/>
                  </a:solidFill>
                  <a:latin typeface="Poppins"/>
                  <a:ea typeface="Poppins"/>
                  <a:cs typeface="Poppins"/>
                  <a:sym typeface="Poppins"/>
                </a:rPr>
                <a:t>Peningkatan recall yang signifikan menunjukkan keberhasilan mengatasi recall gap pada penelitian sebelumnya.</a:t>
              </a:r>
            </a:p>
            <a:p>
              <a:pPr algn="just" marL="518155" indent="-259078" lvl="1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C3C5C6"/>
                  </a:solidFill>
                  <a:latin typeface="Poppins"/>
                  <a:ea typeface="Poppins"/>
                  <a:cs typeface="Poppins"/>
                  <a:sym typeface="Poppins"/>
                </a:rPr>
                <a:t>Integrasi SMOTE membuat model lebih sensitif terhadap pasien diabetes.</a:t>
              </a:r>
            </a:p>
            <a:p>
              <a:pPr algn="just" marL="518155" indent="-259078" lvl="1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C3C5C6"/>
                  </a:solidFill>
                  <a:latin typeface="Poppins"/>
                  <a:ea typeface="Poppins"/>
                  <a:cs typeface="Poppins"/>
                  <a:sym typeface="Poppins"/>
                </a:rPr>
                <a:t>RFE membantu mengurangi noise dan meningkatkan interpretabilitas model.</a:t>
              </a:r>
            </a:p>
            <a:p>
              <a:pPr algn="just" marL="518155" indent="-259078" lvl="1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C3C5C6"/>
                  </a:solidFill>
                  <a:latin typeface="Poppins"/>
                  <a:ea typeface="Poppins"/>
                  <a:cs typeface="Poppins"/>
                  <a:sym typeface="Poppins"/>
                </a:rPr>
                <a:t>Cross-validation memastikan performa model stabil dan tidak bergantung pada satu pembagian data.</a:t>
              </a:r>
            </a:p>
            <a:p>
              <a:pPr algn="just" marL="518155" indent="-259078" lvl="1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C3C5C6"/>
                  </a:solidFill>
                  <a:latin typeface="Poppins"/>
                  <a:ea typeface="Poppins"/>
                  <a:cs typeface="Poppins"/>
                  <a:sym typeface="Poppins"/>
                </a:rPr>
                <a:t>Model yang diusulkan layak digunakan sebagai Clinical Decision Support System (CDSS) untuk skrining awal diabetes.</a:t>
              </a:r>
            </a:p>
            <a:p>
              <a:pPr algn="just">
                <a:lnSpc>
                  <a:spcPts val="33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291902"/>
            <a:ext cx="7187195" cy="587138"/>
            <a:chOff x="0" y="0"/>
            <a:chExt cx="9582926" cy="78285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82851" cy="782851"/>
            </a:xfrm>
            <a:custGeom>
              <a:avLst/>
              <a:gdLst/>
              <a:ahLst/>
              <a:cxnLst/>
              <a:rect r="r" b="b" t="t" l="l"/>
              <a:pathLst>
                <a:path h="782851" w="782851">
                  <a:moveTo>
                    <a:pt x="0" y="0"/>
                  </a:moveTo>
                  <a:lnTo>
                    <a:pt x="782851" y="0"/>
                  </a:lnTo>
                  <a:lnTo>
                    <a:pt x="782851" y="782851"/>
                  </a:lnTo>
                  <a:lnTo>
                    <a:pt x="0" y="7828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919384" y="53010"/>
              <a:ext cx="4698519" cy="3562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800"/>
                </a:lnSpc>
              </a:pPr>
              <a:r>
                <a:rPr lang="en-US" sz="18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UNIVERSITAS SYIAH KUALA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919384" y="383131"/>
              <a:ext cx="8663542" cy="3562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800"/>
                </a:lnSpc>
              </a:pPr>
              <a:r>
                <a:rPr lang="en-US" sz="18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FAKULTAS MATEMATIKA DAN ILMU PENGETAHUAN ALAM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169819" y="-2496048"/>
            <a:ext cx="21842778" cy="9261338"/>
          </a:xfrm>
          <a:custGeom>
            <a:avLst/>
            <a:gdLst/>
            <a:ahLst/>
            <a:cxnLst/>
            <a:rect r="r" b="b" t="t" l="l"/>
            <a:pathLst>
              <a:path h="9261338" w="21842778">
                <a:moveTo>
                  <a:pt x="0" y="0"/>
                </a:moveTo>
                <a:lnTo>
                  <a:pt x="21842778" y="0"/>
                </a:lnTo>
                <a:lnTo>
                  <a:pt x="21842778" y="9261338"/>
                </a:lnTo>
                <a:lnTo>
                  <a:pt x="0" y="92613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76916" y="2859798"/>
            <a:ext cx="15475159" cy="4700755"/>
            <a:chOff x="0" y="0"/>
            <a:chExt cx="20633546" cy="6267673"/>
          </a:xfrm>
        </p:grpSpPr>
        <p:sp>
          <p:nvSpPr>
            <p:cNvPr name="AutoShape 4" id="4"/>
            <p:cNvSpPr/>
            <p:nvPr/>
          </p:nvSpPr>
          <p:spPr>
            <a:xfrm>
              <a:off x="62779" y="1320026"/>
              <a:ext cx="757197" cy="0"/>
            </a:xfrm>
            <a:prstGeom prst="line">
              <a:avLst/>
            </a:prstGeom>
            <a:ln cap="flat" w="50800">
              <a:solidFill>
                <a:srgbClr val="D2B99A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5" id="5"/>
            <p:cNvSpPr txBox="true"/>
            <p:nvPr/>
          </p:nvSpPr>
          <p:spPr>
            <a:xfrm rot="0">
              <a:off x="62779" y="47625"/>
              <a:ext cx="20570767" cy="10818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600"/>
                </a:lnSpc>
              </a:pPr>
              <a:r>
                <a:rPr lang="en-US" sz="56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FUTURE WORK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811877"/>
              <a:ext cx="16469905" cy="44557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 marL="518155" indent="-259078" lvl="1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C3C5C6"/>
                  </a:solidFill>
                  <a:latin typeface="Poppins"/>
                  <a:ea typeface="Poppins"/>
                  <a:cs typeface="Poppins"/>
                  <a:sym typeface="Poppins"/>
                </a:rPr>
                <a:t>Melakukan validasi pada dataset dari populasi dan wilayah yang berbeda.</a:t>
              </a:r>
            </a:p>
            <a:p>
              <a:pPr algn="just" marL="518155" indent="-259078" lvl="1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C3C5C6"/>
                  </a:solidFill>
                  <a:latin typeface="Poppins"/>
                  <a:ea typeface="Poppins"/>
                  <a:cs typeface="Poppins"/>
                  <a:sym typeface="Poppins"/>
                </a:rPr>
                <a:t>Menambahkan fitur klinis lain seperti HbA1c dan profil lipid.</a:t>
              </a:r>
            </a:p>
            <a:p>
              <a:pPr algn="just" marL="518155" indent="-259078" lvl="1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C3C5C6"/>
                  </a:solidFill>
                  <a:latin typeface="Poppins"/>
                  <a:ea typeface="Poppins"/>
                  <a:cs typeface="Poppins"/>
                  <a:sym typeface="Poppins"/>
                </a:rPr>
                <a:t>Menerapkan teknik interpretabilitas model seperti SHAP atau LIME.</a:t>
              </a:r>
            </a:p>
            <a:p>
              <a:pPr algn="just" marL="518155" indent="-259078" lvl="1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C3C5C6"/>
                  </a:solidFill>
                  <a:latin typeface="Poppins"/>
                  <a:ea typeface="Poppins"/>
                  <a:cs typeface="Poppins"/>
                  <a:sym typeface="Poppins"/>
                </a:rPr>
                <a:t>Mengembangkan sistem berbasis web atau mobile untuk deteksi diabetes secara real-time.</a:t>
              </a:r>
            </a:p>
            <a:p>
              <a:pPr algn="just" marL="518155" indent="-259078" lvl="1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C3C5C6"/>
                  </a:solidFill>
                  <a:latin typeface="Poppins"/>
                  <a:ea typeface="Poppins"/>
                  <a:cs typeface="Poppins"/>
                  <a:sym typeface="Poppins"/>
                </a:rPr>
                <a:t>Menerapkan pendekatan cost-sensitive learning untuk meminimalkan kesalahan False Negative.</a:t>
              </a:r>
            </a:p>
            <a:p>
              <a:pPr algn="just">
                <a:lnSpc>
                  <a:spcPts val="33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291902"/>
            <a:ext cx="7187195" cy="587138"/>
            <a:chOff x="0" y="0"/>
            <a:chExt cx="9582926" cy="78285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82851" cy="782851"/>
            </a:xfrm>
            <a:custGeom>
              <a:avLst/>
              <a:gdLst/>
              <a:ahLst/>
              <a:cxnLst/>
              <a:rect r="r" b="b" t="t" l="l"/>
              <a:pathLst>
                <a:path h="782851" w="782851">
                  <a:moveTo>
                    <a:pt x="0" y="0"/>
                  </a:moveTo>
                  <a:lnTo>
                    <a:pt x="782851" y="0"/>
                  </a:lnTo>
                  <a:lnTo>
                    <a:pt x="782851" y="782851"/>
                  </a:lnTo>
                  <a:lnTo>
                    <a:pt x="0" y="7828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919384" y="53010"/>
              <a:ext cx="4698519" cy="3562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800"/>
                </a:lnSpc>
              </a:pPr>
              <a:r>
                <a:rPr lang="en-US" sz="18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UNIVERSITAS SYIAH KUALA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919384" y="383131"/>
              <a:ext cx="8663542" cy="3562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800"/>
                </a:lnSpc>
              </a:pPr>
              <a:r>
                <a:rPr lang="en-US" sz="18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FAKULTAS MATEMATIKA DAN ILMU PENGETAHUAN ALAM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571750" y="1905000"/>
            <a:ext cx="13144500" cy="5573268"/>
          </a:xfrm>
          <a:custGeom>
            <a:avLst/>
            <a:gdLst/>
            <a:ahLst/>
            <a:cxnLst/>
            <a:rect r="r" b="b" t="t" l="l"/>
            <a:pathLst>
              <a:path h="5573268" w="13144500">
                <a:moveTo>
                  <a:pt x="0" y="0"/>
                </a:moveTo>
                <a:lnTo>
                  <a:pt x="13144500" y="0"/>
                </a:lnTo>
                <a:lnTo>
                  <a:pt x="13144500" y="5573268"/>
                </a:lnTo>
                <a:lnTo>
                  <a:pt x="0" y="55732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571750" y="2607999"/>
            <a:ext cx="7026020" cy="799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5600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SEKIAN</a:t>
            </a:r>
          </a:p>
        </p:txBody>
      </p:sp>
      <p:sp>
        <p:nvSpPr>
          <p:cNvPr name="AutoShape 4" id="4"/>
          <p:cNvSpPr/>
          <p:nvPr/>
        </p:nvSpPr>
        <p:spPr>
          <a:xfrm>
            <a:off x="2571750" y="3521818"/>
            <a:ext cx="567898" cy="0"/>
          </a:xfrm>
          <a:prstGeom prst="line">
            <a:avLst/>
          </a:prstGeom>
          <a:ln cap="flat" w="38100">
            <a:solidFill>
              <a:srgbClr val="D2B99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6191250" y="4767580"/>
            <a:ext cx="5905500" cy="799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b="true" sz="56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TERIMA KASIH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28700" y="291902"/>
            <a:ext cx="7187195" cy="587138"/>
            <a:chOff x="0" y="0"/>
            <a:chExt cx="9582926" cy="78285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82851" cy="782851"/>
            </a:xfrm>
            <a:custGeom>
              <a:avLst/>
              <a:gdLst/>
              <a:ahLst/>
              <a:cxnLst/>
              <a:rect r="r" b="b" t="t" l="l"/>
              <a:pathLst>
                <a:path h="782851" w="782851">
                  <a:moveTo>
                    <a:pt x="0" y="0"/>
                  </a:moveTo>
                  <a:lnTo>
                    <a:pt x="782851" y="0"/>
                  </a:lnTo>
                  <a:lnTo>
                    <a:pt x="782851" y="782851"/>
                  </a:lnTo>
                  <a:lnTo>
                    <a:pt x="0" y="7828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919384" y="53010"/>
              <a:ext cx="4698519" cy="3562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800"/>
                </a:lnSpc>
              </a:pPr>
              <a:r>
                <a:rPr lang="en-US" sz="18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UNIVERSITAS SYIAH KUALA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919384" y="383131"/>
              <a:ext cx="8663542" cy="3562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1800"/>
                </a:lnSpc>
              </a:pPr>
              <a:r>
                <a:rPr lang="en-US" sz="18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FAKULTAS MATEMATIKA DAN ILMU PENGETAHUAN ALAM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DAG8ifhnUko</dc:identifier>
  <dcterms:modified xsi:type="dcterms:W3CDTF">2011-08-01T06:04:30Z</dcterms:modified>
  <cp:revision>1</cp:revision>
  <dc:title>Improving Diabetes Detection Using K-Fold Cross Validation and Feature Selection</dc:title>
</cp:coreProperties>
</file>